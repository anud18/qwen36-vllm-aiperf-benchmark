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95728"/>
            <a:ext cx="109728" cy="13716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LLM Serving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0">
                <a:solidFill>
                  <a:srgbClr val="76B900"/>
                </a:solidFill>
                <a:latin typeface="Calibri"/>
              </a:rPr>
              <a:t>System architecture &amp;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Qwen3.6-35B-A3B-FP8  ·  vLLM 0.22.1  ·  NVIDIA GB10 (DGX Spark)  ·  NVIDIA aiperf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9C4CC"/>
                </a:solidFill>
                <a:latin typeface="Calibri"/>
              </a:rPr>
              <a:t>5 workloads from real datasets &amp; production traces: chatbot · coding · RAG · agent · toolagent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one client, one server, everything measured — scripts/run_final.sh drives it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07008"/>
            <a:ext cx="11384280" cy="786384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9496" y="1280160"/>
            <a:ext cx="111282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02830"/>
                </a:solidFill>
                <a:latin typeface="Calibri"/>
              </a:rPr>
              <a:t>Orchestration — scripts/run_final.sh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670"/>
                </a:solidFill>
                <a:latin typeface="Calibri"/>
              </a:rPr>
              <a:t>•  restart vLLM before each workload (clean cache)  ·  warmup 32 req (coding 8)  ·  concurrency sweep  ·  wedge watchdog: kill if token counters frozen 120 s, retry ≤3  ·  prefix-hit delta per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12848"/>
            <a:ext cx="3657600" cy="237744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9496" y="2286000"/>
            <a:ext cx="3401568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aiperf 0.10.0 — load generator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Docker aiperf:local, --network host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builds OpenAI chat payloads per workload file, streams responses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multi-turn: replays conversations, history = model's own replies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measures TTFT · ITL · latency · tok/s per request  (seed 42)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773168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9496" y="4846320"/>
            <a:ext cx="3401568" cy="145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02830"/>
                </a:solidFill>
                <a:latin typeface="Calibri"/>
              </a:rPr>
              <a:t>datasets/aiperf/final_*.jsonl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670"/>
                </a:solidFill>
                <a:latin typeface="Calibri"/>
              </a:rPr>
              <a:t>•  5 workloads from public datasets + production traces (DATASETS.md)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670"/>
                </a:solidFill>
                <a:latin typeface="Calibri"/>
              </a:rPr>
              <a:t>•  built by scripts/build_final.py</a:t>
            </a:r>
          </a:p>
        </p:txBody>
      </p:sp>
      <p:sp>
        <p:nvSpPr>
          <p:cNvPr id="11" name="Up Arrow 10"/>
          <p:cNvSpPr/>
          <p:nvPr/>
        </p:nvSpPr>
        <p:spPr>
          <a:xfrm>
            <a:off x="2167128" y="4590288"/>
            <a:ext cx="146304" cy="201168"/>
          </a:xfrm>
          <a:prstGeom prst="upArrow">
            <a:avLst>
              <a:gd name="adj1" fmla="val 60000"/>
              <a:gd name="adj2" fmla="val 55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2212848"/>
            <a:ext cx="4069080" cy="237744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54696" y="2286000"/>
            <a:ext cx="3813048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vLLM 0.22.1 (nightly, Docker)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Qwen3.6-35B-A3B-FP8 — MoE 256 experts / 8 active, ~37 GB, 256 K ctx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/v1/chat/completions (streaming) · reasoning parser qwen3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prefix caching ON (hit rate exported via /metrics)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•  max-model-len = max-num-batched-tokens = 248,320 · max-num-seqs 32 · GPU util 0.85 → KV ≈ 1.3 M 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773168"/>
            <a:ext cx="4069080" cy="73152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54696" y="4846320"/>
            <a:ext cx="3813048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02830"/>
                </a:solidFill>
                <a:latin typeface="Calibri"/>
              </a:rPr>
              <a:t>NVIDIA GB10 (DGX Spark)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A6670"/>
                </a:solidFill>
                <a:latin typeface="Calibri"/>
              </a:rPr>
              <a:t>•  Grace-Blackwell · 128 GB unified memory · aarch64 · CUDA 13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06240" y="2651760"/>
            <a:ext cx="3383280" cy="146304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414015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A6670"/>
                </a:solidFill>
                <a:latin typeface="Calibri"/>
              </a:rPr>
              <a:t>HTTP /v1/chat/completions (streaming)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4206240" y="3310128"/>
            <a:ext cx="3383280" cy="146304"/>
          </a:xfrm>
          <a:prstGeom prst="leftArrow">
            <a:avLst>
              <a:gd name="adj1" fmla="val 60000"/>
              <a:gd name="adj2" fmla="val 55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4747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A6670"/>
                </a:solidFill>
                <a:latin typeface="Calibri"/>
              </a:rPr>
              <a:t>SSE token 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41648"/>
            <a:ext cx="3383280" cy="86868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34255" y="4114800"/>
            <a:ext cx="3127248" cy="72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202830"/>
                </a:solidFill>
                <a:latin typeface="Calibri"/>
              </a:rPr>
              <a:t>optional tracing plane (docs/OBSERVABILITY.md)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A6670"/>
                </a:solidFill>
                <a:latin typeface="Calibri"/>
              </a:rPr>
              <a:t>•  LiteLLM SDK/gateway → traces/litellm_trace.jsonl — per-request content / tokens /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5074920"/>
            <a:ext cx="3383280" cy="1298448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34255" y="5148072"/>
            <a:ext cx="3127248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02830"/>
                </a:solidFill>
                <a:latin typeface="Calibri"/>
              </a:rPr>
              <a:t>Prometheus :9090 → Grafana :3000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A6670"/>
                </a:solidFill>
                <a:latin typeface="Calibri"/>
              </a:rPr>
              <a:t>•  scrapes vLLM /metrics every 2 s · official vLLM dashboard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A6670"/>
                </a:solidFill>
                <a:latin typeface="Calibri"/>
              </a:rPr>
              <a:t>•  run_final.sh reads the same counters → prefix.json per point</a:t>
            </a:r>
          </a:p>
        </p:txBody>
      </p:sp>
      <p:sp>
        <p:nvSpPr>
          <p:cNvPr id="24" name="Up Arrow 23"/>
          <p:cNvSpPr/>
          <p:nvPr/>
        </p:nvSpPr>
        <p:spPr>
          <a:xfrm>
            <a:off x="7360920" y="4572000"/>
            <a:ext cx="146304" cy="457200"/>
          </a:xfrm>
          <a:prstGeom prst="upArrow">
            <a:avLst>
              <a:gd name="adj1" fmla="val 60000"/>
              <a:gd name="adj2" fmla="val 55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Five workloads, five real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each targets a different serving regime — see DATASETS.md for provenance &amp; stats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657600"/>
                <a:gridCol w="1691640"/>
                <a:gridCol w="1417320"/>
                <a:gridCol w="3566160"/>
              </a:tblGrid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Original dataset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v6 benchmark file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aiperf type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 it models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chatbot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ShareGPT V3 — 94,145 real user↔ChatGPT conversation records (Vicuna cleaned split)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aiperf built-in pool (73,277 sessions / 252,196 turns)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open-domain multi-turn chat; medium in / medium out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coding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Inferact/codex_swebenchpro_traces — 610 Codex agent traces solving SWE-bench Pro (11 OSS repos)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final_coding.jsonl</a:t>
                      </a:r>
                    </a:p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100 conv × 6 turns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multi_turn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coding agent: ≈12 K-token repo preamble + tool outputs, history re-sent every turn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yixuantt/MultiHopRAG — 2,556 multi-hop queries over 609 news articles (Sep–Dec 2023)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final_rag.jsonl</a:t>
                      </a:r>
                    </a:p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500 requests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single_turn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RAG QA: stuffed multi-doc context, few-word answer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AI45Research/ATBench-Claw — 500 OpenClaw agent-safety trajectories (tools, skills, thinking)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final_agent.jsonl</a:t>
                      </a:r>
                    </a:p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200 conv / 887 turns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multi_turn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tool-using assistant: short mixed user + tool-result turns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toolagent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Mooncake FAST'25 trace (Kimi production, 1 h) — 23,608 requests; lengths + prefix-block hashes, no text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final_toolagent.jsonl</a:t>
                      </a:r>
                    </a:p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200 requests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mooncake_trace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production tool/agent traffic replay with realistic prefix reuse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897880"/>
            <a:ext cx="11384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Output capped at 5,000 tokens per request (toolagent keeps the trace's own lengths; chatbot per-turn = original reply length).  Reasoning/thinking ON only for coding — the other four disable it via chat_template_kwargs.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Workload characteristics (measured)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file stats: scripts/dataset_stats.py (tokens ≈ chars/4) · served ISL/OSL: aiperf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1138427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04"/>
                <a:gridCol w="1377130"/>
                <a:gridCol w="3305113"/>
                <a:gridCol w="1468939"/>
                <a:gridCol w="1377130"/>
                <a:gridCol w="2754261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Turns / conv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 tokens (p50 / max)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Served ISL avg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Served OSL avg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Output profile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chatbot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multi (2–6+)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a few hundred / turn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366–511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217–235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conversational replies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coding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6 (fixed)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turn-0 preamble 12.4 K / 14.1 K</a:t>
                      </a:r>
                    </a:p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cumulative 37 K / 94 K per conv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19.8 K – 24.2 K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2.4 K – 4.1 K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reasoning ON → longest decode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5.7 K / 30.1 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6.3 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≈ 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few-word answer (EOS ≪ cap)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2–7 (median 4)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turn-0 1.1 K / 8.3 K; new text / turn p50 127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1.8 K – 3.4 K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234–601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short-medium tool-driven replies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830"/>
                          </a:solidFill>
                          <a:latin typeface="Calibri"/>
                        </a:rPr>
                        <a:t>toolagent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1 (trace replay)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6.6 K / 120.6 K (exact, heavy-tailed)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10.2 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≈180–190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830"/>
                          </a:solidFill>
                          <a:latin typeface="Calibri"/>
                        </a:rPr>
                        <a:t>trace-defined, ≤ 929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166360"/>
            <a:ext cx="11384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02830"/>
                </a:solidFill>
                <a:latin typeface="Calibri"/>
              </a:rPr>
              <a:t>Why these five — each stresses a different part of the serving stack: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rag = pure prefill / TTFT   ·   coding = KV capacity + within-conversation prefix reuse + reasoning decode   ·   agent = many small multi-turn requests (scheduling)   ·   toolagent = block-level cross-request prefix reuse, heavy-tailed inputs   ·   chatbot = balanced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What the model actually receives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verified from aiperf's recorded request bodies — FORMAT.md shows real payload excerpts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5532120" cy="22860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9496" y="1399032"/>
            <a:ext cx="5276088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Common path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every request → vLLM /v1/chat/completions; JSONL text becomes one user message (Qwen chat template)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output_length → max_completion_tokens (generation cap)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extra → merged into body: chat_template_kwargs.enable_thinking steers reasoning on/off per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94760"/>
            <a:ext cx="5532120" cy="256032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9496" y="3867912"/>
            <a:ext cx="5276088" cy="241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multi_turn (coding, agent)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1 conversation line → 1 request per turn, sent in order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aiperf prepends history; assistant turns are the model's own previous replies — dataset gpt text is never sent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coding: the 12 K-token preamble rides along every turn ⇒ prefix-cache gold (hit 45–68 %)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532120" cy="22860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91655" y="1399032"/>
            <a:ext cx="5276088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single_turn (rag)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1 line = 1 request: instruction + full evidence articles + question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context 2.8 K–30 K tokens, answers ~3 tokens ⇒ prefill-dominated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94760"/>
            <a:ext cx="5532120" cy="256032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91655" y="3867912"/>
            <a:ext cx="5276088" cy="241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mooncake_trace (toolagent)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trace has no text — aiperf synthesizes prompts to the exact input_length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each hash_id deterministically maps to a byte-identical 512-token block ⇒ replays production prefix-reuse (26.9 % block re-references)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timestamps stripped in v6 so --concurrency applies (kept ⇒ fixed-schedule replay)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Run methodology (v6)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designed for steady-state, cache-honest, resumable measurements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5532120" cy="237744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9496" y="1399032"/>
            <a:ext cx="5276088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Isolation &amp; warmup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fresh vLLM server before each workload — no cross-workload cache leak or backlog (restart ≈ 11 min, AOT compile cache mounted)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warmup 32 requests per point (coding 8: reasoning-ON warmup would eat the budget) → measured window is steady-state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886200"/>
            <a:ext cx="5532120" cy="237744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9496" y="3959352"/>
            <a:ext cx="5276088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Sweep &amp; termination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concurrency 4 / 8 / 16 (+32 for chatbot, rag) — 17 points total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chatbot · rag · toolagent → 160 requests per point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agent · coding → time-boxed: 300 s + 300 s grace (long multi-turn sessions)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532120" cy="237744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91655" y="1399032"/>
            <a:ext cx="5276088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Cache accounting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prefix-cache hit rate recorded per (workload, concurrency): delta of vllm:prefix_cache_hits/queries_total → prefix.json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server restart between workloads keeps these numbers attributable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886200"/>
            <a:ext cx="5532120" cy="237744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 w="1397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91655" y="3959352"/>
            <a:ext cx="5276088" cy="223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02830"/>
                </a:solidFill>
                <a:latin typeface="Calibri"/>
              </a:rPr>
              <a:t>Reliability &amp; outputs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watchdog polls /metrics every 15 s; kills a run wedged 120 s (vLLM EngineCore deadlock), restarts server, retries ≤3 — struck 3×, all recovered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•  results/final/&lt;wl&gt;/c&lt;n&gt;/ → summarize_final.py (metrics table incl. prefix-hit) + plot_pareto.py (figures)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What the v6 run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tables + figures: scripts/summarize_final.py · scripts/plot_pareto.py (from results/final/)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5943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202830"/>
                </a:solidFill>
                <a:latin typeface="Calibri"/>
              </a:rPr>
              <a:t>TTFT rises with concurrency everywhere — worst where prefill dominates: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5A6670"/>
                </a:solidFill>
                <a:latin typeface="Calibri"/>
              </a:rPr>
              <a:t>rag 3.6 s → 28.6 s (c4→c32, req/s flat ≈ 0.9: pure prefill queueing); chatbot only 0.25 s → 0.51 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202830"/>
                </a:solidFill>
                <a:latin typeface="Calibri"/>
              </a:rPr>
              <a:t>System vs per-user throughput trade: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5A6670"/>
                </a:solidFill>
                <a:latin typeface="Calibri"/>
              </a:rPr>
              <a:t>chatbot 109 → 239 out-tok/s while per-user falls 28 → 8.7 tok/s (c4→c32)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202830"/>
                </a:solidFill>
                <a:latin typeface="Calibri"/>
              </a:rPr>
              <a:t>Prefix-cache hit tracks context sharing: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>
                <a:solidFill>
                  <a:srgbClr val="5A6670"/>
                </a:solidFill>
                <a:latin typeface="Calibri"/>
              </a:rPr>
              <a:t>coding 45→68 %, agent 53–59 %, toolagent ≈ 21 %, rag 9–14 %, chatbot decays 17→3 %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202830"/>
                </a:solidFill>
                <a:latin typeface="Calibri"/>
              </a:rPr>
              <a:t>Prefix caching pays: re-sending coding's ~26 K-token history cost ~3 s TTFT instead of ~25 s cold (pass-2 measurement, thinking off)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202830"/>
                </a:solidFill>
                <a:latin typeface="Calibri"/>
              </a:rPr>
              <a:t>Big batch budget pays: max-num-batched-tokens 248,320 lets 16 rag prefills batch in one step — TTFT −35 %, req/s +24 % (vs default budget; GPU util 0.5→0.85 changed with 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47548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02830"/>
                </a:solidFill>
                <a:latin typeface="Calibri"/>
              </a:rPr>
              <a:t>Where to dig deeper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11384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81228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25400" marB="25400">
                    <a:solidFill>
                      <a:srgbClr val="2028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830"/>
                          </a:solidFill>
                          <a:latin typeface="Calibri"/>
                        </a:rPr>
                        <a:t>Where does each dataset come from &amp; what does it look like?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830"/>
                          </a:solidFill>
                          <a:latin typeface="Calibri"/>
                        </a:rPr>
                        <a:t>DATASETS.md (sources, licenses, measured stats — scripts/dataset_stats.py)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830"/>
                          </a:solidFill>
                          <a:latin typeface="Calibri"/>
                        </a:rPr>
                        <a:t>What bytes are actually sent to the model?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830"/>
                          </a:solidFill>
                          <a:latin typeface="Calibri"/>
                        </a:rPr>
                        <a:t>FORMAT.md / FORMAT.zh-TW.md (real recorded payloads, layer by layer)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830"/>
                          </a:solidFill>
                          <a:latin typeface="Calibri"/>
                        </a:rPr>
                        <a:t>How do I reproduce the run?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830"/>
                          </a:solidFill>
                          <a:latin typeface="Calibri"/>
                        </a:rPr>
                        <a:t>RUNBOOK.md (server flags, monitoring, one-command reproduce)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830"/>
                          </a:solidFill>
                          <a:latin typeface="Calibri"/>
                        </a:rPr>
                        <a:t>Full numbers &amp; figures?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830"/>
                          </a:solidFill>
                          <a:latin typeface="Calibri"/>
                        </a:rPr>
                        <a:t>results/final/ → summarize_final.py + plot_pareto.py · earlier passes in RESULTS.md</a:t>
                      </a:r>
                    </a:p>
                  </a:txBody>
                  <a:tcPr marT="25400" marB="25400">
                    <a:solidFill>
                      <a:srgbClr val="F2F5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830"/>
                          </a:solidFill>
                          <a:latin typeface="Calibri"/>
                        </a:rPr>
                        <a:t>Per-request tracing / content capture / cost?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830"/>
                          </a:solidFill>
                          <a:latin typeface="Calibri"/>
                        </a:rPr>
                        <a:t>docs/OBSERVABILITY.md (LiteLLM trace + cost logging)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846320"/>
            <a:ext cx="11384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202830"/>
                </a:solidFill>
                <a:latin typeface="Calibri"/>
              </a:rPr>
              <a:t>Reproduce: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5A6670"/>
                </a:solidFill>
                <a:latin typeface="Calibri"/>
              </a:rPr>
              <a:t>python3 scripts/build_final.py   →   bash scripts/run_final.sh   →   python3 scripts/summarize_final.py &amp;&amp; python3 scripts/plot_pareto.py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