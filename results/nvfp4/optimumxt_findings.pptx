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6262A"/>
                </a:solidFill>
                <a:latin typeface="Noto Sans CJK TC"/>
              </a:rPr>
              <a:t>Dynamo optimumxt 端點效能診斷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6B6B70"/>
                </a:solidFill>
                <a:latin typeface="Noto Sans CJK TC"/>
              </a:rPr>
              <a:t>以 spark 本機 vLLM 重現同一組 benchmark，26 個測試點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114800"/>
            <a:ext cx="3657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2026-08-04    量測工具 aiperf 0.10.0    NVIDIA GB10 / vllm-openai v0.24.0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一句話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結論：問題出在部署，不在硬體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2A78D6"/>
                </a:solidFill>
                <a:latin typeface="Noto Sans CJK TC"/>
              </a:rPr>
              <a:t>32–177×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端點 prefill 比同機器的 vLLM 慢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（12 組同模型對照，全部成立）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0116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BAF7A"/>
                </a:solidFill>
                <a:latin typeface="Noto Sans CJK TC"/>
              </a:rPr>
              <a:t>0.93–1.7×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decode 差距不大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Llama 幾乎相同，Qwen 慢約 1.5 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0116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EB6834"/>
                </a:solidFill>
                <a:latin typeface="Noto Sans CJK TC"/>
              </a:rPr>
              <a:t>0.88×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78892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併發從 1 加到 2，端點反而變慢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（同一測試在本機是 2.09× 加速）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20624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•  同一台機器、同一個模型、逐 token 相同的輸入 —— 差異只可能來自服務層。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•  GB10 的 KV cache 容量 426k–480k tokens，併發 32 下可維持 346 output tok/s。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•  曾讓端點卡死 25 分鐘的高併發測試，本機 226 秒乾淨跑完、零錯誤。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主要發現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Prefill 慢 32–177 倍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53006"/>
            <a:ext cx="10545775" cy="39749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每一組都是同模型、同 prompt、ISL 逐 percentile 完全相同的對照。端點實際更慢：其 prefix cache 命中率 46–74%，那些 token 計入 ISL 但未實際運算。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Decode 沒有問題 —— 除了併發之下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e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53006"/>
            <a:ext cx="10545775" cy="39749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Llama 兩邊幾乎相同（0.93–0.98×，本機甚至略慢），代表 GB10 的 decode 速度是硬體實況。Qwen 慢 1.5–1.7×。最上面兩筆是 c2 併發點。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併發加倍：本機加速 2.09×，端點反而慢 12%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04931"/>
            <a:ext cx="10545775" cy="34882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總工作量固定 100 個請求，端點卻花更久才跑完。機制在 ITL：67 → 182 ms（+170%），兩個請求沒有被 batch 在一起而是互相搶資源。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端點僅此一組 c1/c2 皆有效，其餘併發點被 tunnel 配額或逾時破壞。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佐證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硬體從來不是瓶頸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6262A"/>
                </a:solidFill>
                <a:latin typeface="Noto Sans CJK TC"/>
              </a:rPr>
              <a:t>高併發測試 c32（320 個請求）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493776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端點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worker 卡死約 25 分鐘，未產出任何結果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本機 Llama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226 秒完成、0 錯誤，系統輸出 346 tok/s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本機 Qwen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514 秒完成、0 錯誤，系統輸出 153 tok/s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6262A"/>
                </a:solidFill>
                <a:latin typeface="Noto Sans CJK TC"/>
              </a:rPr>
              <a:t>KV cache 容量（端點從未揭露）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468880"/>
            <a:ext cx="493776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Llama-3.1-8B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426,496 tokens，併發上限 104×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Qwen3-VL-30B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479,504 tokens，併發上限 117×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皆在 4096 context 設定下量得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12064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6262A"/>
                </a:solidFill>
                <a:latin typeface="Noto Sans CJK TC"/>
              </a:rPr>
              <a:t>同一台機器上，stock vLLM 在併發 32 時系統輸出達 346 tok/s；端點在併發 1 時只有 9.4 tok/s。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建議與限制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6262A"/>
                </a:solidFill>
                <a:latin typeface="Noto Sans CJK TC"/>
              </a:rPr>
              <a:t>建議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26262A"/>
                </a:solidFill>
                <a:latin typeface="Noto Sans CJK TC"/>
              </a:rPr>
              <a:t>1.  優先查 Dynamo 的 prefill 路徑 —— 這是唯一數量級的差距，且兩個模型都成立。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26262A"/>
                </a:solidFill>
                <a:latin typeface="Noto Sans CJK TC"/>
              </a:rPr>
              <a:t>2.  檢查併發排程：端點在併發 2 就開始劣化，32 直接卡死。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26262A"/>
                </a:solidFill>
                <a:latin typeface="Noto Sans CJK TC"/>
              </a:rPr>
              <a:t>3.  context 上限 4096 是部署設定，非模型能力。放寬後另外三個 workload 才跑得動。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29768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6262A"/>
                </a:solidFill>
                <a:latin typeface="Noto Sans CJK TC"/>
              </a:rPr>
              <a:t>本次量測的已知限制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本機端沒有 prefix cache 命中率（為與端點方法論一致而保留 REMOTE=1）。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端點有 4 個測試點因 tunnel 配額或逾時而無效，已於報告中標記，未納入結論。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端點與本機的 tunnel 差異未單獨隔離；但 110 ms vs 11,444 ms 的差距遠超網路可解釋範圍。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方法論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附錄：如何確保兩邊在比同一件事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6262A"/>
                </a:solidFill>
                <a:latin typeface="Noto Sans CJK TC"/>
              </a:rPr>
              <a:t>端點數據固定不動，所有對齊都在 spark 這一側完成。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5156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ISL 是 server 回報的 prompt_tokens，只有在模型、tokenizer、chat template 三者都一致時才會相同。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過程中修正兩處：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一開始誤把本機 Llama 與 Qwen 端點並列比較 —— 不同 tokenizer，兩欄不可比。已全部改為同模型對照。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Llama 的 chat template 缺少 system block，每個請求少 25 個 token（ISL 總和 11,676 對端點 12,176）。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以 --chat-template 修正後三重驗證：對端點逐筆記錄全數相符、對 Meta 官方 template 在 300 筆 entries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token 數完全相同、對執行中的伺服器實測 69 = 69。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結果：12 組同模型對照的 ISL 與 OSL，在 avg / p50 / p90 / p95 / p99 / max 每一格都完全相同。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方法論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附錄：測試範圍與資料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6262A"/>
                </a:solidFill>
                <a:latin typeface="Noto Sans CJK TC"/>
              </a:rPr>
              <a:t>測試點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49377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26 個點，兩個模型各 13 個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全部完成：0 錯誤、OSL 零偏差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併發 1 / 2 / 32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請求數 10 / 20 / 100 / 320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workload：chatbot_flat、agent_flat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（多輪對話攤平，每個請求自帶完整歷史）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74519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6262A"/>
                </a:solidFill>
                <a:latin typeface="Noto Sans CJK TC"/>
              </a:rPr>
              <a:t>資料集特性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31720"/>
            <a:ext cx="49377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384 筆 entries / 109 個 session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ISL 中位數 530，OSL 中位數 233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OSL 由 trace 以 ignore_eos 鎖定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→ 每個有效點偏差為 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prefix cache 理論上限 64.8% / 72.8%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實測 c1 全部落在 3 個百分點內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44068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完整報告：results/nvfp4/SPARK_REPRO.md　·　資料集說明：DATASETS_optimumxt.md　·　檔案索引：SPARK_INDEX.md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附錄：名詞解釋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指標的算法與意思（一）　延遲與單使用者速率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28800"/>
          <a:ext cx="11155680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4846320"/>
                <a:gridCol w="822960"/>
              </a:tblGrid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A"/>
                          </a:solidFill>
                          <a:latin typeface="Noto Sans CJK TC"/>
                        </a:rPr>
                        <a:t>算法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A"/>
                          </a:solidFill>
                          <a:latin typeface="Noto Sans CJK TC"/>
                        </a:rPr>
                        <a:t>意思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A"/>
                          </a:solidFill>
                          <a:latin typeface="Noto Sans CJK TC"/>
                        </a:rPr>
                        <a:t>方向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A"/>
                          </a:solidFill>
                          <a:latin typeface="Noto Sans CJK TC"/>
                        </a:rPr>
                        <a:t>TTFT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DejaVu Sans Mono"/>
                        </a:rPr>
                        <a:t>第一個 token 送達的時間 − 請求送出的時間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Noto Sans CJK TC"/>
                        </a:rPr>
                        <a:t>使用者等多久才看到第一個字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E34948"/>
                          </a:solidFill>
                          <a:latin typeface="Noto Sans CJK TC"/>
                        </a:rPr>
                        <a:t>↓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A"/>
                          </a:solidFill>
                          <a:latin typeface="Noto Sans CJK TC"/>
                        </a:rPr>
                        <a:t>ITL = TPOT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DejaVu Sans Mono"/>
                        </a:rPr>
                        <a:t>(E2E 延遲 − TTFT) ÷ (OSL − 1)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Noto Sans CJK TC"/>
                        </a:rPr>
                        <a:t>出字期間平均每個 token 的間隔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E34948"/>
                          </a:solidFill>
                          <a:latin typeface="Noto Sans CJK TC"/>
                        </a:rPr>
                        <a:t>↓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A"/>
                          </a:solidFill>
                          <a:latin typeface="Noto Sans CJK TC"/>
                        </a:rPr>
                        <a:t>E2E latency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DejaVu Sans Mono"/>
                        </a:rPr>
                        <a:t>請求結束時間 − 請求送出時間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Noto Sans CJK TC"/>
                        </a:rPr>
                        <a:t>一個請求從頭到尾的總時間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E34948"/>
                          </a:solidFill>
                          <a:latin typeface="Noto Sans CJK TC"/>
                        </a:rPr>
                        <a:t>↓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DejaVu Sans Mono"/>
                        </a:rPr>
                        <a:t>ISL ÷ TTFT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Noto Sans CJK TC"/>
                        </a:rPr>
                        <a:t>讀取 prompt 的速度（每個使用者）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AF7A"/>
                          </a:solidFill>
                          <a:latin typeface="Noto Sans CJK TC"/>
                        </a:rPr>
                        <a:t>↑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DejaVu Sans Mono"/>
                        </a:rPr>
                        <a:t>1000 ÷ ITL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Noto Sans CJK TC"/>
                        </a:rPr>
                        <a:t>出字速度（每個使用者感受到的）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AF7A"/>
                          </a:solidFill>
                          <a:latin typeface="Noto Sans CJK TC"/>
                        </a:rPr>
                        <a:t>↑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895344"/>
            <a:ext cx="111556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全部取自 aiperf 的欄位，未經二次加工。公式已用逐筆原始記錄驗算，以某一筆為例：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ITL = (18,200.474 − 79.131) ÷ (252 − 1) = 72.196584 ms　·　Prefill = 69 ÷ 0.07913 = 871.97 tok/s　·　Decode = 1000 ÷ 72.196584 = 13.85 tok/s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Prefill / Decode 皆為 per-user：描述單一使用者的體感，不是伺服器總吞吐。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附錄：名詞解釋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指標的算法與意思（二）　整體吞吐與資料量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28800"/>
          <a:ext cx="11155680" cy="2450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4846320"/>
                <a:gridCol w="822960"/>
              </a:tblGrid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A"/>
                          </a:solidFill>
                          <a:latin typeface="Noto Sans CJK TC"/>
                        </a:rPr>
                        <a:t>算法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A"/>
                          </a:solidFill>
                          <a:latin typeface="Noto Sans CJK TC"/>
                        </a:rPr>
                        <a:t>意思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A"/>
                          </a:solidFill>
                          <a:latin typeface="Noto Sans CJK TC"/>
                        </a:rPr>
                        <a:t>方向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DejaVu Sans Mono"/>
                        </a:rPr>
                        <a:t>OSL 總和 ÷ 測試總時長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Noto Sans CJK TC"/>
                        </a:rPr>
                        <a:t>伺服器整體每秒產出多少 token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AF7A"/>
                          </a:solidFill>
                          <a:latin typeface="Noto Sans CJK TC"/>
                        </a:rPr>
                        <a:t>↑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DejaVu Sans Mono"/>
                        </a:rPr>
                        <a:t>請求數 ÷ 測試總時長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Noto Sans CJK TC"/>
                        </a:rPr>
                        <a:t>伺服器每秒消化多少個請求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AF7A"/>
                          </a:solidFill>
                          <a:latin typeface="Noto Sans CJK TC"/>
                        </a:rPr>
                        <a:t>↑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A"/>
                          </a:solidFill>
                          <a:latin typeface="Noto Sans CJK TC"/>
                        </a:rPr>
                        <a:t>Benchmark duration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DejaVu Sans Mono"/>
                        </a:rPr>
                        <a:t>最後一筆結束 − 最早一筆送出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Noto Sans CJK TC"/>
                        </a:rPr>
                        <a:t>整輪測試的實際牆鐘時間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E34948"/>
                          </a:solidFill>
                          <a:latin typeface="Noto Sans CJK TC"/>
                        </a:rPr>
                        <a:t>↓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A"/>
                          </a:solidFill>
                          <a:latin typeface="Noto Sans CJK TC"/>
                        </a:rPr>
                        <a:t>ISL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DejaVu Sans Mono"/>
                        </a:rPr>
                        <a:t>伺服器回報的 usage.prompt_tokens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Noto Sans CJK TC"/>
                        </a:rPr>
                        <a:t>輸入長度；本次兩邊刻意設為相同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6B6B70"/>
                          </a:solidFill>
                          <a:latin typeface="Noto Sans CJK TC"/>
                        </a:rP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A"/>
                          </a:solidFill>
                          <a:latin typeface="Noto Sans CJK TC"/>
                        </a:rPr>
                        <a:t>OSL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DejaVu Sans Mono"/>
                        </a:rPr>
                        <a:t>伺服器回報的 usage.completion_tokens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Noto Sans CJK TC"/>
                        </a:rPr>
                        <a:t>輸出長度；由 trace 以 ignore_eos 鎖定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6B6B70"/>
                          </a:solidFill>
                          <a:latin typeface="Noto Sans CJK TC"/>
                        </a:rP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A"/>
                          </a:solidFill>
                          <a:latin typeface="Noto Sans CJK TC"/>
                        </a:rPr>
                        <a:t>Prefix cache 命中率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DejaVu Sans Mono"/>
                        </a:rPr>
                        <a:t>快取命中的 prompt token ÷ 全部 prompt token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Noto Sans CJK TC"/>
                        </a:rPr>
                        <a:t>有多少輸入是重用快取、不必重算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AF7A"/>
                          </a:solidFill>
                          <a:latin typeface="Noto Sans CJK TC"/>
                        </a:rPr>
                        <a:t>↑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DejaVu Sans Mono"/>
                        </a:rPr>
                        <a:t>實際完成且被統計的請求數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A"/>
                          </a:solidFill>
                          <a:latin typeface="Noto Sans CJK TC"/>
                        </a:rPr>
                        <a:t>未完成者多為 tunnel 層失敗，非伺服器問題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AF7A"/>
                          </a:solidFill>
                          <a:latin typeface="Noto Sans CJK TC"/>
                        </a:rPr>
                        <a:t>↑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507992"/>
            <a:ext cx="111556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per-user 與 system 是兩件事：併發加倍時，單一使用者可能變慢，但伺服器總產出可能上升 —— 兩者要一起看。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Prefill throughput 會被 prefix cache 灌水：命中的 token 計入 ISL 卻未實際運算，故端點真實 prefill 比表上更慢。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附錄：名詞解釋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表格怎麼讀：比值方向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6262A"/>
                </a:solidFill>
                <a:latin typeface="Noto Sans CJK TC"/>
              </a:rPr>
              <a:t>問題：有些指標越大越好，有些越小越好，比值就容易讀反。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本簡報的作法是「除法只有一種、方向交給指標本身」：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1.  比值一律是「後者 ÷ 前者」 —— 對照表為端點 ÷ 本機，併發頁為 c2 ÷ c1。不因指標而改變除法方向。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2.  每個指標名稱前標示 ↓（越小越好）或 ↑（越大越好）。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3.  比值用顏色標示結果：紅色 = 較差，綠色 = 持平或較好。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34340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6262A"/>
                </a:solidFill>
                <a:latin typeface="Noto Sans CJK TC"/>
              </a:rPr>
              <a:t>例：同一頁上這兩列都代表「端點較差」，但數字一大一小 ——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5029200"/>
          <a:ext cx="105156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286000"/>
                <a:gridCol w="2286000"/>
                <a:gridCol w="173736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6262A"/>
                          </a:solidFill>
                          <a:latin typeface="Noto Sans CJK TC"/>
                        </a:rPr>
                        <a:t>spark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6262A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÷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6262A"/>
                          </a:solidFill>
                          <a:latin typeface="Noto Sans CJK TC"/>
                        </a:rPr>
                        <a:t>↓ TTFT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6262A"/>
                          </a:solidFill>
                          <a:latin typeface="Noto Sans CJK TC"/>
                        </a:rPr>
                        <a:t>109.9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6262A"/>
                          </a:solidFill>
                          <a:latin typeface="Noto Sans CJK TC"/>
                        </a:rPr>
                        <a:t>8,693.7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34948"/>
                          </a:solidFill>
                          <a:latin typeface="Noto Sans CJK TC"/>
                        </a:rPr>
                        <a:t>79.12×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6262A"/>
                          </a:solidFill>
                          <a:latin typeface="Noto Sans CJK TC"/>
                        </a:rPr>
                        <a:t>↑ 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6262A"/>
                          </a:solidFill>
                          <a:latin typeface="Noto Sans CJK TC"/>
                        </a:rPr>
                        <a:t>30.48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6262A"/>
                          </a:solidFill>
                          <a:latin typeface="Noto Sans CJK TC"/>
                        </a:rPr>
                        <a:t>20.22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34948"/>
                          </a:solidFill>
                          <a:latin typeface="Noto Sans CJK TC"/>
                        </a:rPr>
                        <a:t>0.66×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6262A"/>
                          </a:solidFill>
                          <a:latin typeface="Noto Sans CJK TC"/>
                        </a:rPr>
                        <a:t>—  ISL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6262A"/>
                          </a:solidFill>
                          <a:latin typeface="Noto Sans CJK TC"/>
                        </a:rPr>
                        <a:t>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6262A"/>
                          </a:solidFill>
                          <a:latin typeface="Noto Sans CJK TC"/>
                        </a:rPr>
                        <a:t>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AF7A"/>
                          </a:solidFill>
                          <a:latin typeface="Noto Sans CJK TC"/>
                        </a:rPr>
                        <a:t>1.00×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79.12× 是「慢了 79 倍」，0.66× 是「只剩六成六」—— 兩者都紅色，不必回頭想除法方向。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w2 chatbot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　（↓ 越小越好　↑ 越大越好）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÷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9,070.7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30.41×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32.79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50.76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1.55×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9,425.9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23,347.0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2.48×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1,747.4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53.9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0.031×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30.50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19.89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0.65×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29.59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11.95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0.1061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0.0428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593.7 / 5,937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593.7 / 5,937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279.0 / 2,790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279.0 / 2,790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÷ 本機」一律為端點值除以本機值。紅色 = 端點較差，綠色 = 端點持平或較好；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方向由指標本身決定（↓ 越小越好、↑ 越大越好），不必自己判斷除法方向。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w2 chatbot c2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　（↓ 越小越好　↑ 越大越好）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÷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236.4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14,599.6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61.75×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43.44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150.04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3.45×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13,446.5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61,238.6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4.55×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2,952.8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40.3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0.014×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23.09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7.38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0.32×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44.30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9.87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0.22×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0.1457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0.0325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0.22×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602.0 / 12,040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602.0 / 12,040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304.0 / 6,080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304.0 / 6,080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÷ 本機」一律為端點值除以本機值。紅色 = 端點較差，綠色 = 端點持平或較好；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方向由指標本身決定（↓ 越小越好、↑ 越大越好），不必自己判斷除法方向。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w2 chatbot c1 (repeat)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　（↓ 越小越好　↑ 越大越好）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÷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9,086.9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86.40×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32.81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50.13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9,228.3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23,163.6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2.51×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5,845.1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53.9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0.009×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30.48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20.12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0.66×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12.04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0.1083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0.0432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593.7 / 5,937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593.7 / 5,937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279.0 / 2,790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279.0 / 2,790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÷ 本機」一律為端點值除以本機值。紅色 = 端點較差，綠色 = 端點持平或較好；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方向由指標本身決定（↓ 越小越好、↑ 越大越好），不必自己判斷除法方向。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w2 agent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　（↓ 越小越好　↑ 越大越好）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÷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314.8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17,774.0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56.47×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33.31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57.42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1.72×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8,113.5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31,469.0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3.88×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5,512.9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0.024×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30.02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17.54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0.58×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28.88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7.45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0.26×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0.1232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0.0318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0.26×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1,686.4 / 16,864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1,686.4 / 16,864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234.4 / 2,344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234.4 / 2,344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÷ 本機」一律為端點值除以本機值。紅色 = 端點較差，綠色 = 端點持平或較好；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方向由指標本身決定（↓ 越小越好、↑ 越大越好），不必自己判斷除法方向。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w0 chatbot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　（↓ 越小越好　↑ 越大越好）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÷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109.9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8,693.7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79.12×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32.81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49.90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1.52×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9,870.8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23,584.0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2.39×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6,312.5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0.009×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30.48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20.22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0.66×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12.65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0.42×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0.1013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0.42×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584.9 / 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584.9 / 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÷ 本機」一律為端點值除以本機值。紅色 = 端點較差，綠色 = 端點持平或較好；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方向由指標本身決定（↓ 越小越好、↑ 越大越好），不必自己判斷除法方向。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w0 agent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　（↓ 越小越好　↑ 越大越好）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÷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184.5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20,617.9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111.72×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33.26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57.93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1.74×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8,100.1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34,705.8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4.28×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14,204.8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117.6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0.008×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30.07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0.58×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29.39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0.23×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0.1233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0.0288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0.23×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1,658.0 / 33,160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1,658.0 / 33,160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238.3 / 4,766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238.3 / 4,766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÷ 本機」一律為端點值除以本機值。紅色 = 端點較差，綠色 = 端點持平或較好；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方向由指標本身決定（↓ 越小越好、↑ 越大越好），不必自己判斷除法方向。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w0 chatbot c1 (repeat)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　（↓ 越小越好　↑ 越大越好）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÷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8,705.7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79.81×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32.79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50.31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9,863.0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23,698.4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2.40×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6,419.9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0.009×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30.50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0.66×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12.59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0.42×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0.1014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0.0422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0.42×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584.9 / 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584.9 / 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÷ 本機」一律為端點值除以本機值。紅色 = 端點較差，綠色 = 端點持平或較好；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方向由指標本身決定（↓ 越小越好、↑ 越大越好），不必自己判斷除法方向。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w0 chatbot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　（↓ 越小越好　↑ 越大越好）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÷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79.3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11,444.4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144.24×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72.52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68.72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0.95×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21,654.0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31,875.2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1.47×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7,475.8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0.007×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14.56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1.06×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9.36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0.68×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0.0314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0.68×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608.8 / 12,176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608.8 / 12,176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÷ 本機」一律為端點值除以本機值。紅色 = 端點較差，綠色 = 端點持平或較好；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方向由指標本身決定（↓ 越小越好、↑ 越大越好），不必自己判斷除法方向。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w0 agent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　（↓ 越小越好　↑ 越大越好）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÷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112.1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26,594.9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237.33×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73.21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71.83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0.98×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17,513.2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43,822.1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2.50×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16,659.7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0.006×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1.02×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5.44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0.0571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0.0228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1,661.3 / 33,226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1,661.3 / 33,226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238.3 / 4,766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238.3 / 4,766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÷ 本機」一律為端點值除以本機值。紅色 = 端點較差，綠色 = 端點持平或較好；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方向由指標本身決定（↓ 越小越好、↑ 越大越好），不必自己判斷除法方向。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w0 chatbot c1 (repeat)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　（↓ 越小越好　↑ 越大越好）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÷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11,196.3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141.63×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72.67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67.39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0.93×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21,702.1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31,272.8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1.44×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7,474.3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0.007×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1.08×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9.54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0.69×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0.69×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608.8 / 12,176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608.8 / 12,176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÷ 本機」一律為端點值除以本機值。紅色 = 端點較差，綠色 = 端點持平或較好；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方向由指標本身決定（↓ 越小越好、↑ 越大越好），不必自己判斷除法方向。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r100 chatbot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　（↓ 越小越好　↑ 越大越好）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÷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95.5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10,970.9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114.86×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72.66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67.36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0.93×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17,988.3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27,572.8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6,553.6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0.010×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1.08×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8.97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0.65×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0.0556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0.0363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0.65×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655.5 / 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655.5 / 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247.2 / 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247.2 / 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÷ 本機」一律為端點值除以本機值。紅色 = 端點較差，綠色 = 端點持平或較好；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方向由指標本身決定（↓ 越小越好、↑ 越大越好），不必自己判斷除法方向。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r100 chatbot c2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　（↓ 越小越好　↑ 越大越好）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÷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211.0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17,821.7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84.45×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68.62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181.71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2.65×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17,112.0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62,530.2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3.65×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3,095.8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0.016×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14.57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6.62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0.45×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28.75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0.27×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0.1163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0.0319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0.27×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655.5 / 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655.5 / 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247.2 / 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247.2 / 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÷ 本機」一律為端點值除以本機值。紅色 = 端點較差，綠色 = 端點持平或較好；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方向由指標本身決定（↓ 越小越好、↑ 越大越好），不必自己判斷除法方向。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附錄：無端點對照的 spark 測試點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以下 spark 點沒有可比的端點數據，因此不出現在前面的對照表：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Llama 的 w2 系列 4 個點 —— 端點從未跑過這組設定。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w0 agent c2（兩個模型）—— 端點該點 20 筆中有 6 筆撞上 ngrok 流量配額。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r100 agent c1 / c2（兩個模型）—— 端點分別遺失 3 筆與 10 筆（Cloudflare 逾時）。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逾時砍掉的是最慢的請求，會讓端點數字看起來偏好，不能採用。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r100 chatbot / agent（Qwen）—— 100 請求系列只對 Llama 端點跑過。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c32（兩個模型）—— 端點該點 worker 卡死，未產出任何結果。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這些點在 spark 上全部完成、0 錯誤，數據見 results/nvfp4/SPARK_INDEX.md。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逐點明細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附錄：Dynamo 端點原始數據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以下 15 頁為端點側每個測試點的完整分布，含 avg / P50 / P90 / P95。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3 個點標記為無效或部分無效 —— 皆為 tunnel 層問題（ngrok 流量配額、Cloudflare 逾時），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非伺服器行為。逾時砍掉的是最慢的請求，會讓數字看起來比實際更好，故不納入任何結論。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c1  (warmup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9,070.7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11,187.2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14,102.1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15,927.2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50.80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56.70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57.91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23,347.0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27,802.8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30,418.5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32,604.0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53.9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107.5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22.82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1,342.0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1,490.5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          Successful requests  10 / 10          Request throughput  0.0428 req/s          ISL total  5,937          OSL total  2,790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60.64%          OSL 偏差 0          benchmark duration 233.5 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c2  (warmup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14,599.6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11,521.4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25,946.5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27,399.3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150.04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144.47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200.64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219.90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61,238.6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58,969.5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97,169.3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100,730.3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40.3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7.38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6.93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9.01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9.47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602.0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613.0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1,321.5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494.7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0.0325 req/s          ISL total  12,040          OSL total  6,080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40.27%          OSL 偏差 0          benchmark duration 615.9 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c1 重跑  (warmup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9,086.9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11,229.9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14,008.5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15,847.7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56.04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57.27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23,163.6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27,800.2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30,111.6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31,842.9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53.9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20.09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22.77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1,342.0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1,490.5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          Successful requests  10 / 10          Request throughput  0.0432 req/s          ISL total  5,937          OSL total  2,790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60.64%          OSL 偏差 0          benchmark duration 231.7 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agent_flat c1  (warmup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17,774.0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15,409.1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27,827.6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37,078.4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63.95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64.05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31,469.0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25,653.0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52,969.3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53,835.3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113.1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17.54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17.48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19.85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1,686.4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1,781.5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2,471.3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2,724.6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423.4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429.7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          Successful requests  10 / 10          Request throughput  0.0318 req/s          ISL total  16,864          OSL total  2,344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74.28%          OSL 偏差 0          benchmark duration 314.7 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c1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8,693.7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10,015.7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13,632.1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13,844.7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49.90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48.61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56.44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57.67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23,584.0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26,158.6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32,460.5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32,820.5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108.4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20.22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22.92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23.30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584.9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1,321.5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0.0424 req/s          ISL total  11,698          OSL total  5,970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61.75%          OSL 偏差 0          benchmark duration 471.8 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agent_flat c1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20,617.9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16,668.0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40,537.1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47,333.5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57.93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65.83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66.15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34,705.8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30,515.2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55,283.3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59,401.3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107.1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216.3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17.25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1,658.0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1,579.5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2,903.3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2,985.3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0.0288 req/s          ISL total  33,160          OSL total  4,766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69.39%          OSL 偏差 0          benchmark duration 694.4 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c1 重跑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8,705.7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10,072.6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13,533.4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13,754.3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50.31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49.11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56.67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58.14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23,698.4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26,188.8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32,766.0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32,930.6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108.1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22.48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584.9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1,321.5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0.0422 req/s          ISL total  11,698          OSL total  5,970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61.75%          OSL 偏差 0          benchmark duration 474.1 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agent_flat c2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37,389.4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31,479.7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69,581.1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82,477.2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238.45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245.00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309.65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443.31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92,025.0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91,784.4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153,536.0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156,315.0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40.6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145.4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5.51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4.08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10.23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1,551.0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1,466.0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2,301.6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2,612.0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231.4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419.6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426.9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14 / 20          Request throughput  0.0217 req/s          ISL total  21,714          OSL total  3,240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46.67%          OSL 偏差 0          benchmark duration 646.0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34948"/>
                </a:solidFill>
                <a:latin typeface="Noto Sans CJK TC"/>
              </a:rPr>
              <a:t>⚠  無效：20 筆中 6 筆撞上 ngrok 月流量配額（403 ERR_NGROK_725）。剩餘 14 筆的併發時序也被拖累，不可引用。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chatbot_flat c1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11,444.4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13,706.4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17,135.1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17,537.5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68.72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68.45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71.46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71.49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31,875.2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34,582.1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43,200.2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45,414.9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84.2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97.9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14.56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14.96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608.8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1,346.0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1,456.0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0.0314 req/s          ISL total  12,176          OSL total  5,970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63.83%          OSL 偏差 0          benchmark duration 637.6 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agent_flat c1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26,594.9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22,279.0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54,492.6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62,952.0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72.08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74.89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75.71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43,822.1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39,991.8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73,339.0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79,105.3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172.7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246.2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13.87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14.63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1,661.3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1,587.0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2,850.9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2,988.5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0.0228 req/s          ISL total  33,226          OSL total  4,766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69.90%          OSL 偏差 0          benchmark duration 876.5 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chatbot_flat c1 重跑  (worker 重啟後)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11,196.3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13,396.8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16,808.7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17,148.3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67.39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67.23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70.09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70.83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31,272.8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34,015.9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42,269.4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44,349.9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86.1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14.87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15.60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608.8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1,346.0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1,456.0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0.0320 req/s          ISL total  12,176          OSL total  5,970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63.83%          OSL 偏差 0          benchmark duration 625.5 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chatbot_flat c1  (100 請求)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10,970.9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10,847.2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20,745.1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23,313.6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67.36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66.94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69.85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71.01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27,572.8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27,561.9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45,387.1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46,982.9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47.9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121.7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172.3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15.41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15.52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655.5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1,471.8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1,583.3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247.2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446.1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487.8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100          Successful requests  100 / 100          Request throughput  0.0363 req/s          ISL total  65,546          OSL total  24,723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67.04%          OSL 偏差 0          benchmark duration 2,757.6 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chatbot_flat c2  (100 請求)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17,821.7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13,533.2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35,059.4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43,280.3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181.71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156.42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278.60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295.55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62,530.2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62,220.9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108,834.4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114,921.6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128.8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6.62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6.39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9.07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655.5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1,471.8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1,583.3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247.2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446.1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487.8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100          Successful requests  100 / 100          Request throughput  0.0319 req/s          ISL total  65,546          OSL total  24,723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46.77%          OSL 偏差 0          benchmark duration 3,132.2 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agent_flat c1  (100 請求)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23,615.9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16,205.1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49,218.6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71,024.1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70.03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69.67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73.68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74.18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38,451.1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30,749.1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72,552.1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88,281.0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14.30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14.35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15.06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1,601.1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2,733.4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2,904.2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212.3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171.0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395.4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100          Successful requests  97 / 100          Request throughput  0.0236 req/s          ISL total  155,303          OSL total  20,589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72.32%          OSL 偏差 0          benchmark duration 4,105.1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34948"/>
                </a:solidFill>
                <a:latin typeface="Noto Sans CJK TC"/>
              </a:rPr>
              <a:t>⚠  部分無效：100 筆中 3 筆 Cloudflare 524 逾時。524 砍掉的是最慢的請求，故下列數字偏樂觀。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agent_flat c2  (100 請求)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45,671.6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36,831.3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94,558.5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113,410.1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333.43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261.24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510.17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736.99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107,986.3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102,804.3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173,008.2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208,571.2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4.49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8.99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1,562.1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2,600.8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2,852.8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215.6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414.4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100          Successful requests  90 / 100          Request throughput  0.0158 req/s          ISL total  135,900          OSL total  18,759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47.82%          OSL 偏差 0          benchmark duration 5,683.7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34948"/>
                </a:solidFill>
                <a:latin typeface="Noto Sans CJK TC"/>
              </a:rPr>
              <a:t>⚠  部分無效：100 筆中 10 筆 Cloudflare 524 逾時。524 砍掉的是最慢的請求，故下列數字偏樂觀。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附錄：端點自身的併發比較　·　Llama-3.1-8B · chatbot_flat · 100 請求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Dynamo 端點：併發 1 vs 併發 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37360"/>
          <a:ext cx="10515600" cy="3863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286000"/>
                <a:gridCol w="2286000"/>
                <a:gridCol w="2011680"/>
              </a:tblGrid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指標　（↓ 越小越好　↑ 越大越好）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B6834"/>
                          </a:solidFill>
                          <a:latin typeface="Noto Sans CJK TC"/>
                        </a:rPr>
                        <a:t>併發 1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B6834"/>
                          </a:solidFill>
                          <a:latin typeface="Noto Sans CJK TC"/>
                        </a:rPr>
                        <a:t>併發 2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c2 ÷ c1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TTFT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10,970.9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17,821.7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1.62×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ITL = TPOT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67.36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181.71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2.70×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E2E latency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27,572.8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62,530.2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2.27×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0.75×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6.62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0.45×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8.97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0.88×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0.0363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0.0319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0.88×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↓ Benchmark duration (s)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2,757.6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3,132.2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1.14×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↑ Prefix cache 命中率 (%)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67.04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46.77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34948"/>
                          </a:solidFill>
                          <a:latin typeface="Noto Sans CJK TC"/>
                        </a:rPr>
                        <a:t>0.70×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76529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62A"/>
                </a:solidFill>
                <a:latin typeface="Noto Sans CJK TC"/>
              </a:rPr>
              <a:t>總工作量固定 100 個請求，併發加倍後端點卻多花 13.6% 的時間才跑完 —— 加大併發是負效益。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7618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比值欄一律為 c2 ÷ c1。紅色 = 併發加倍後變差，綠色 = 持平或變好；方向由指標本身決定。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0537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6B6B70"/>
                </a:solidFill>
                <a:latin typeface="Noto Sans CJK TC"/>
              </a:rPr>
              <a:t>機制在 decode：ITL 67.4 → 181.7 ms（+170%），per-user decode 掉到 6.62 tok/s，系統輸出從 8.97 降到 7.89。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6B6B70"/>
                </a:solidFill>
                <a:latin typeface="Noto Sans CJK TC"/>
              </a:rPr>
              <a:t>同一組測試在 spark 本機是加速 2.09×、系統輸出 13.74 → 28.75 tok/s（見第 5 頁）。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附錄：端點自身的併發比較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端點其餘 c1 / c2 組合為何不可比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A"/>
                </a:solidFill>
                <a:latin typeface="Noto Sans CJK TC"/>
              </a:rPr>
              <a:t>端點側只有上一頁那一組是乾淨的併發對照。其餘三組各有不同問題：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6262A"/>
                </a:solidFill>
                <a:latin typeface="Noto Sans CJK TC"/>
              </a:rPr>
              <a:t>Qwen3-VL · w2 chatbot c1 / c2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98648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兩點的請求數與 trace 切片不同（10 筆 entries[2:12] 對 20 筆 entries[2:22]），ISL 總和 5,937 對 12,040。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這是兩個不同的 workload，不是同一工作量的併發比較。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2160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6262A"/>
                </a:solidFill>
                <a:latin typeface="Noto Sans CJK TC"/>
              </a:rPr>
              <a:t>Qwen3-VL · w0 agent c1 / c2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05656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c2 的 20 筆中有 6 筆撞上 ngrok 月流量配額（403 ERR_NGROK_725），實際只完成 14 筆，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ISL 總和因此變成 21,714 對 c1 的 33,160。工作量不同，無法比較。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28616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6262A"/>
                </a:solidFill>
                <a:latin typeface="Noto Sans CJK TC"/>
              </a:rPr>
              <a:t>Llama-3.1-8B · r100 agent c1 / c2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12664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兩點分別遺失 3 筆與 10 筆 Cloudflare 524 逾時，ISL 總和 155,303 對 135,900。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524 砍掉的是最慢的請求，兩邊被砍掉的比例還不同，比較會雙重失真。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181344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40994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62A"/>
                </a:solidFill>
                <a:latin typeface="Noto Sans CJK TC"/>
              </a:rPr>
              <a:t>spark 本機四組 c1 / c2 全部有效（ISL 逐點相同、0 錯誤），加速倍率 1.50× 至 2.09×。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